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743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FB6E0"/>
                </a:solidFill>
                <a:latin typeface="맑은 고딕"/>
              </a:rPr>
              <a:t>260722 팀 프로젝트 회의 전 자료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Lending Club 신용평가모형 &amp; Sharpe Ratio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7D3EA"/>
                </a:solidFill>
                <a:latin typeface="맑은 고딕"/>
              </a:rPr>
              <a:t>거시경제지표 · 신용평가모형 후보 비교 · 사전/사후 변수 재분류 · 부도손실 IRR 근사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B6E0"/>
                </a:solidFill>
                <a:latin typeface="맑은 고딕"/>
              </a:rPr>
              <a:t>2026-07-22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02920" cy="7315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오늘 회의 전 정리한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에이전트 세팅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36776"/>
            <a:ext cx="2834640" cy="329184"/>
          </a:xfrm>
          <a:prstGeom prst="round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67128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67128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거시경제지표 조사 (금리·물가·고용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295144"/>
            <a:ext cx="2834640" cy="329184"/>
          </a:xfrm>
          <a:prstGeom prst="round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후보 확정 · 매칭방식 미확정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25496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25496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25496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신용평가모형 후보 고려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953512"/>
            <a:ext cx="2834640" cy="329184"/>
          </a:xfrm>
          <a:prstGeom prst="round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비교표 작성 · 최종모형 미확정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83864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83864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483864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사전/사후 변수 재분류 (투자자 관점)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611880"/>
            <a:ext cx="2834640" cy="329184"/>
          </a:xfrm>
          <a:prstGeom prst="round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확정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42232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42232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142232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부도 손실(IRR) 근사 방법론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270248"/>
            <a:ext cx="2834640" cy="329184"/>
          </a:xfrm>
          <a:prstGeom prst="round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방법 확정 · 적용범위 미확정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00600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프로젝트 역할 정리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4928616"/>
            <a:ext cx="2834640" cy="329184"/>
          </a:xfrm>
          <a:prstGeom prst="round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회의에서 논의 예정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58968"/>
            <a:ext cx="502920" cy="603504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58968"/>
            <a:ext cx="502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E5EAA"/>
                </a:solidFill>
                <a:latin typeface="맑은 고딕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458968"/>
            <a:ext cx="7315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D2D2D"/>
                </a:solidFill>
                <a:latin typeface="맑은 고딕"/>
              </a:rPr>
              <a:t>회의 후 작업사항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5586984"/>
            <a:ext cx="2834640" cy="329184"/>
          </a:xfrm>
          <a:prstGeom prst="round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회의에서 논의 예정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2. 거시경제지표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왜 거시지표를 추가로 검토하는가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5EAA"/>
                </a:solidFill>
                <a:latin typeface="맑은 고딕"/>
              </a:rPr>
              <a:t>참고논문의 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881360" cy="1600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D2D2D"/>
                </a:solidFill>
                <a:latin typeface="맑은 고딕"/>
              </a:rPr>
              <a:t>참고논문은 issuance year를 설명변수로, issuance month를 삼각함수(sin/cos)로 인코딩해 넣었다.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D2D2D"/>
                </a:solidFill>
                <a:latin typeface="맑은 고딕"/>
              </a:rPr>
              <a:t>논문 스스로 이를 "시변 거시경제조건 · 계절성을 부분적으로만(partially) 통제하는" 대리변수라고 밝히며,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D2D2D"/>
                </a:solidFill>
                <a:latin typeface="맑은 고딕"/>
              </a:rPr>
              <a:t>부도 간 상관관계 · 체계적 위험을 명시적으로 모델링하지 않은 점을 한계(Limitation #4)로 지적했다.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5EAA"/>
                </a:solidFill>
                <a:latin typeface="맑은 고딕"/>
              </a:rPr>
              <a:t>우리 프로젝트의 접근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2D2D2D"/>
                </a:solidFill>
                <a:latin typeface="맑은 고딕"/>
              </a:rPr>
              <a:t>▸  issue_d 기반 시간 더미(연도/월)는 그대로 유지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2D2D2D"/>
                </a:solidFill>
                <a:latin typeface="맑은 고딕"/>
              </a:rPr>
              <a:t>▸  이와 별도로, 한계를 보완할 실제 거시경제지표(금리·물가·고용)를 설명변수 후보로 추가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→ 논문이 제안한 "경기국면별 τ* 설정" 후속과제와 직접 연결되는 확장 지점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2. 거시경제지표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후보 선정 기준 및 확정 후보 4개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2D2D2D"/>
                </a:solidFill>
                <a:latin typeface="맑은 고딕"/>
              </a:rPr>
              <a:t>▸  부도율과 직접 연관된 지표(카드연체율, DSR, GDP, 주택가격지수 등)는 발표 시차 2~4개월 → 최신 시점 기준 실제 존재하지 않는 값 문제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2D2D2D"/>
                </a:solidFill>
                <a:latin typeface="맑은 고딕"/>
              </a:rPr>
              <a:t>▸  선정 기준: ① 발표 시차 1개월 이내(최신성)  +  ② 소비자 신용위험과의 이론적·실증적 관련성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514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463040"/>
                <a:gridCol w="56692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FRED 코드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시차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선정 이유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실업률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UNRATE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월별, ~3주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소득 상실 = 부도의 가장 직접적 원인, 표준 통제변수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신규 실업수당 청구건수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ICSA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주별, ~1주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UNRATE보다 선행성 강함 (국면전환 초기신호)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10Y-2Y 국채금리차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T10Y2Y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일별, ~0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장단기 금리역전 = 경기침체 대표 선행지표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소비자물가지수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CPIAUCSL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월별, ~2~3주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명목 installment로 못 잡는 실질 상환부담 반영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2. 거시경제지표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남은 판단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A"/>
                </a:solidFill>
                <a:latin typeface="맑은 고딕"/>
              </a:rPr>
              <a:t>issue_d(발행월) 매칭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07A"/>
                </a:solidFill>
                <a:latin typeface="맑은 고딕"/>
              </a:rPr>
              <a:t>레벨(level) 그대로 vs YoY 변화율 vs 3개월 이동평균 — 추가 논의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09728" cy="105156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A"/>
                </a:solidFill>
                <a:latin typeface="맑은 고딕"/>
              </a:rPr>
              <a:t>주(state)별 실업률(LAUS) 확장 여부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56432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07A"/>
                </a:solidFill>
                <a:latin typeface="맑은 고딕"/>
              </a:rPr>
              <a:t>전국 실업률보다 시차가 더 길어(~1개월+) 1개월 기준에서 애매하게 벗어날 수 있음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09728" cy="105156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A"/>
                </a:solidFill>
                <a:latin typeface="맑은 고딕"/>
              </a:rPr>
              <a:t>issue_d 더미(연/월)와 병행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73752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07A"/>
                </a:solidFill>
                <a:latin typeface="맑은 고딕"/>
              </a:rPr>
              <a:t>함께 쓰면 다중공선성 여지 → 병행 vs 대체 여부 팀 판단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3. 신용평가모형 후보 고려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모형 비교표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92024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모형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해석가능성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비선형·상호작용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확률보정(기본)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정형데이터 성능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로지스틱 회귀 (+Lasso/Ridge/EN)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Gradient Boosting (XGB/LGBM/Cat)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하 (보정 필수)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 (최상위권)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MLP (딥러닝)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 (이론상)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중~상 (우위 불확실)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Cox PH (참고, 생존분석)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확률 아닌 hazard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스코프 다름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전체 기준(범주형 처리·강건성·튜닝비용 포함)은 outputs/reports/decision_log.md 참고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3. 신용평가모형 후보 고려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모형별 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36192"/>
            <a:ext cx="2651760" cy="413308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373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B2A4A"/>
                </a:solidFill>
                <a:latin typeface="맑은 고딕"/>
              </a:rPr>
              <a:t>로지스틱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23160"/>
            <a:ext cx="2322576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해석 쉽고 확률보정 우수, 계산 빠름 — 다만 비선형 상호작용은 직접 항을 만들어야 포착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63040"/>
            <a:ext cx="2651760" cy="7315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536192"/>
            <a:ext cx="2651760" cy="413308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7373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B2A4A"/>
                </a:solidFill>
                <a:latin typeface="맑은 고딕"/>
              </a:rPr>
              <a:t>Random Forest / 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423160"/>
            <a:ext cx="2322576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비선형·상호작용 자동 포착, 정형데이터 최상위권 성능 — 원시 확률이 과신(overconfident)되는 경향 → 보정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6B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36192"/>
            <a:ext cx="2651760" cy="413308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7373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B2A4A"/>
                </a:solidFill>
                <a:latin typeface="맑은 고딕"/>
              </a:rPr>
              <a:t>MLP (딥러닝)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423160"/>
            <a:ext cx="2322576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이론상 유연하지만 이 데이터 규모에선 GBM 대비 우위 불확실, 튜닝비용 큼 → 우선순위 낮음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463040"/>
            <a:ext cx="2651760" cy="73152"/>
          </a:xfrm>
          <a:prstGeom prst="rect">
            <a:avLst/>
          </a:prstGeom>
          <a:solidFill>
            <a:srgbClr val="6B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536192"/>
            <a:ext cx="2651760" cy="413308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17373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1B2A4A"/>
                </a:solidFill>
                <a:latin typeface="맑은 고딕"/>
              </a:rPr>
              <a:t>Cox PH (참고)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423160"/>
            <a:ext cx="2322576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부도 "시점"까지 모델링 가능하나 이번 스코프(단일 시점 p)엔 오버스펙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3. 신용평가모형 후보 고려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추천 방향 및 남은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881360" cy="137160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50" b="1" i="0">
                <a:solidFill>
                  <a:srgbClr val="1B2A4A"/>
                </a:solidFill>
                <a:latin typeface="맑은 고딕"/>
              </a:rPr>
              <a:t>베이스라인: 정규화 로지스틱 회귀 (해석·보정 용이)</a:t>
            </a:r>
          </a:p>
          <a:p>
            <a:pPr algn="l">
              <a:lnSpc>
                <a:spcPct val="135000"/>
              </a:lnSpc>
            </a:pPr>
            <a:r>
              <a:rPr sz="1750" b="1" i="0">
                <a:solidFill>
                  <a:srgbClr val="1B2A4A"/>
                </a:solidFill>
                <a:latin typeface="맑은 고딕"/>
              </a:rPr>
              <a:t>메인 후보: LightGBM / XGBoost (성능) — 두 계열을 병행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5EAA"/>
                </a:solidFill>
                <a:latin typeface="맑은 고딕"/>
              </a:rPr>
              <a:t>남은 판단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2D2D2D"/>
                </a:solidFill>
                <a:latin typeface="맑은 고딕"/>
              </a:rPr>
              <a:t>▸  로지스틱 vs GBM — 최종 1개로 좁힐지, 둘 다 만들어 Sharpe Ratio 기준으로 비교할지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2D2D2D"/>
                </a:solidFill>
                <a:latin typeface="맑은 고딕"/>
              </a:rPr>
              <a:t>▸  GBM 채택 시 확률 보정 방법 선택 (Platt scaling vs isotonic regression)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2D2D2D"/>
                </a:solidFill>
                <a:latin typeface="맑은 고딕"/>
              </a:rPr>
              <a:t>▸  딥러닝(MLP) — 아예 후보에서 제외할지, 참고용으로만 한 번 돌려볼지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참고논문은 모형 비교 없이 XGBoost 단일모델만 사용 — AUC-Sharpe 상관계수 0.228(약함)을 직접 제시하며 "모델 선택보다 threshold 연결이 핵심"임을 시사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4. 사전/사후 변수 재분류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심사자 관점 → 투자자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212080" cy="502920"/>
          </a:xfrm>
          <a:prstGeom prst="rect">
            <a:avLst/>
          </a:prstGeom>
          <a:solidFill>
            <a:srgbClr val="6B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기존 관점 (LC 심사자 입장)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212080" cy="32918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6634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D2D2D"/>
                </a:solidFill>
                <a:latin typeface="맑은 고딕"/>
              </a:rPr>
              <a:t>대출의 승인/거절 자체를 우리가 결정한다고 가정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D2D2D"/>
                </a:solidFill>
                <a:latin typeface="맑은 고딕"/>
              </a:rPr>
              <a:t>→ grade, sub_grade, int_rate, installment, funded_amnt, funded_amnt_inv, issue_d, initial_list_status는 심사 결과로 정해지는 값 → 사후 변수로 분류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5212080" cy="50292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6304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수정된 관점 (투자자 입장) ✓ 확정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65960"/>
            <a:ext cx="5212080" cy="32918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46634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4A"/>
                </a:solidFill>
                <a:latin typeface="맑은 고딕"/>
              </a:rPr>
              <a:t>LC 심사를 이미 통과해 grade·funded_amnt 등이 확정된 대출을 놓고, 그 대출에 투자(펀딩)할지 말지만 결정하는 입장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4A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4A"/>
                </a:solidFill>
                <a:latin typeface="맑은 고딕"/>
              </a:rPr>
              <a:t>→ 위 변수들은 우리 결정 시점에 이미 알려진 값 → 사전 변수로 재설정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6324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E07A2C"/>
                </a:solidFill>
                <a:latin typeface="맑은 고딕"/>
              </a:rPr>
              <a:t>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근거: 조교님 확인 — 신규 심사 대상 데이터에도 해당 컬럼이 동일하게 채워져 들어옴 (README.md, 커밋 4ba1c8e)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5. 부도 손실(IRR) 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왜 IRR을 고려하는가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5EAA"/>
                </a:solidFill>
                <a:latin typeface="맑은 고딕"/>
              </a:rPr>
              <a:t>문제 인식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D2D2D"/>
                </a:solidFill>
                <a:latin typeface="맑은 고딕"/>
              </a:rPr>
              <a:t>현재 Sharpe Ratio 계산은 부도 대출의 실현수익률을 -100%(원금 전액 손실)로 가정 → 실제 회수 과정을 반영하지 못해 현실을 왜곡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3429000" cy="23774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3429000" cy="822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맑은 고딕"/>
              </a:rPr>
              <a:t>217,366건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07A"/>
                </a:solidFill>
                <a:latin typeface="맑은 고딕"/>
              </a:rPr>
              <a:t>Charged Off 대출 표본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880360"/>
            <a:ext cx="3429000" cy="23774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2880360"/>
            <a:ext cx="3429000" cy="82296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33756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7A2C"/>
                </a:solidFill>
                <a:latin typeface="맑은 고딕"/>
              </a:rPr>
              <a:t>평균 -45.19%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2519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07A"/>
                </a:solidFill>
                <a:latin typeface="맑은 고딕"/>
              </a:rPr>
              <a:t>실제 회수액 대비 단순수익률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880360"/>
            <a:ext cx="3429000" cy="23774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880360"/>
            <a:ext cx="3429000" cy="8229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33756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5EAA"/>
                </a:solidFill>
                <a:latin typeface="맑은 고딕"/>
              </a:rPr>
              <a:t>중앙값 -49.00%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251960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07A"/>
                </a:solidFill>
                <a:latin typeface="맑은 고딕"/>
              </a:rPr>
              <a:t>즉, 부도가 나도 평균적으로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07A"/>
                </a:solidFill>
                <a:latin typeface="맑은 고딕"/>
              </a:rPr>
              <a:t>원금 절반 이상은 회수됨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→ -100% 가정은 부도손실을 실제보다 약 2배 과대평가 → Sharpe Ratio·threshold 전체를 왜곡시킴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5. 부도 손실(IRR) 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적용 범위 및 현금흐름 재구성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128016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정상상환·조기상환</a:t>
            </a:r>
          </a:p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B2A4A"/>
                </a:solidFill>
                <a:latin typeface="맑은 고딕"/>
              </a:rPr>
              <a:t>→ IRR = int_rate (증명됨, 재구성 불필요)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349240" cy="1280160"/>
          </a:xfrm>
          <a:prstGeom prst="rect">
            <a:avLst/>
          </a:prstGeom>
          <a:solidFill>
            <a:srgbClr val="FB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36192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8A4510"/>
                </a:solidFill>
                <a:latin typeface="맑은 고딕"/>
              </a:rPr>
              <a:t>부도(Charged Off)</a:t>
            </a:r>
          </a:p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8A4510"/>
                </a:solidFill>
                <a:latin typeface="맑은 고딕"/>
              </a:rPr>
              <a:t>→ IRR 근사 필요 (상환이 중단된 채 추심으로 일부만 비정기 회수)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5EAA"/>
                </a:solidFill>
                <a:latin typeface="맑은 고딕"/>
              </a:rPr>
              <a:t>부도 대출 현금흐름 3단계 재구성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3520440" cy="23317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0215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정상 납입 구간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대출 실행 ~ 연체 시작 전: installment만큼씩 매달 정확히 들어왔다고 가정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429000"/>
            <a:ext cx="3520440" cy="23317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3429000"/>
            <a:ext cx="640080" cy="64008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429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50215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연체·미상환 구간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251960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연체 시작 ~ 부도 확정: 상환이 없었다고 가정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3429000"/>
            <a:ext cx="3520440" cy="23317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429000"/>
            <a:ext cx="640080" cy="64008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3429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50215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맑은 고딕"/>
              </a:rPr>
              <a:t>부분 회수 구간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51960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D2D2D"/>
                </a:solidFill>
                <a:latin typeface="맑은 고딕"/>
              </a:rPr>
              <a:t>부도 확정 후: recoveries만큼 한 번에 들어왔다고 가정 (정확한 회수시점은 알 수 없음)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5. 부도 손실(IRR) 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연율화 방식 3가지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11480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73152" marR="73152" marT="36576" marB="36576" anchor="ctr"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① 단순 연율화 (×12)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월별 현금흐름 직접 계산(NPV=0) 후 ×12 — int_rate와 동일 관례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채택 — 정상상환 시 int_rate와 정확히 일치 검증됨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② 복리 연율화 ((1+r)^12-1)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실효연율(EAR) 개념, int_rate보다 소폭 높게 산출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기각 — 틀린 계산은 아니나 int_rate와 다른 관례라 비교 불가</a:t>
                      </a:r>
                    </a:p>
                  </a:txBody>
                  <a:tcPr marL="73152" marR="73152" marT="36576" marB="36576" anchor="ctr">
                    <a:solidFill>
                      <a:srgbClr val="EEF1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③ HPR 기준 ((1+HPR)^(12/기간)-1)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총수령액 기준 환산 (참고논문 방식)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D2D"/>
                          </a:solidFill>
                          <a:latin typeface="맑은 고딕"/>
                        </a:rPr>
                        <a:t>기각 — 시점 무시한 총수익률 환산이라 실제 수익률을 구조적으로 저평가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예: int_rate 12% 정상상환 대출도 ③ 방식으로는 6%대로 나옴 — 계산방식 자체의 구조적 오류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5. 부도 손실(IRR) 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남은 오차와 결정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D2D2D"/>
                </a:solidFill>
                <a:latin typeface="맑은 고딕"/>
              </a:rPr>
              <a:t>이 데이터로는 부도 대출의 정밀한 IRR을 재현할 수 없고, issue_d/last_pymnt_d가 월 단위라 실제 일(day) 단위 타이밍과도 오차가 있음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303520" cy="23774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5EAA"/>
                </a:solidFill>
                <a:latin typeface="맑은 고딕"/>
              </a:rPr>
              <a:t>옵션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4A"/>
                </a:solidFill>
                <a:latin typeface="맑은 고딕"/>
              </a:rPr>
              <a:t>부도 건별 IRR 근사 계산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4A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4A"/>
                </a:solidFill>
                <a:latin typeface="맑은 고딕"/>
              </a:rPr>
              <a:t>근사 오차를 감수하고 대출 단위로 정밀하게 추정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606040"/>
            <a:ext cx="5349240" cy="237744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07A"/>
                </a:solidFill>
                <a:latin typeface="맑은 고딕"/>
              </a:rPr>
              <a:t>옵션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00400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D2D2D"/>
                </a:solidFill>
                <a:latin typeface="맑은 고딕"/>
              </a:rPr>
              <a:t>grade × term 평균 실현수익률로 대체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D2D2D"/>
                </a:solidFill>
                <a:latin typeface="맑은 고딕"/>
              </a:rPr>
              <a:t>(지난 TA 질문에서 제안된 방식) — 단순하지만 대출 간 이질성은 덜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팀이 트레이드오프를 판단해야 함 · 투자자 서비스수수료(~1%) 반영 방식도 별도 결정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EAA"/>
                </a:solidFill>
                <a:latin typeface="맑은 고딕"/>
              </a:rPr>
              <a:t>다음 논의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A"/>
                </a:solidFill>
                <a:latin typeface="맑은 고딕"/>
              </a:rPr>
              <a:t>회의에서 결정할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07A"/>
                </a:solidFill>
                <a:latin typeface="맑은 고딕"/>
              </a:rPr>
              <a:t>Lending Club 신용평가 · Sharpe Ratio 최적화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64592" cy="16459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D2D2D"/>
                </a:solidFill>
                <a:latin typeface="맑은 고딕"/>
              </a:rPr>
              <a:t>6. 프로젝트 역할 분담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0008"/>
            <a:ext cx="164592" cy="16459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D2D2D"/>
                </a:solidFill>
                <a:latin typeface="맑은 고딕"/>
              </a:rPr>
              <a:t>7. 회의 후 실행 항목 정리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35808"/>
            <a:ext cx="164592" cy="16459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D2D2D"/>
                </a:solidFill>
                <a:latin typeface="맑은 고딕"/>
              </a:rPr>
              <a:t>거시지표 issue_d 매칭 방식 (level / YoY / 이동평균)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21608"/>
            <a:ext cx="164592" cy="16459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D2D2D"/>
                </a:solidFill>
                <a:latin typeface="맑은 고딕"/>
              </a:rPr>
              <a:t>모형 최종 확정 (로지스틱 vs GBM, 확률보정 방법)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164592" cy="16459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D2D2D"/>
                </a:solidFill>
                <a:latin typeface="맑은 고딕"/>
              </a:rPr>
              <a:t>부도 IRR 근사 vs grade×term 평균 대체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07A"/>
                </a:solidFill>
                <a:latin typeface="맑은 고딕"/>
              </a:rPr>
              <a:t>전체 로그: outputs/reports/decision_log.md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FB6E0"/>
                </a:solidFill>
                <a:latin typeface="맑은 고딕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</a:rPr>
              <a:t>지금까지 확정 vs 미확정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7EC88C"/>
                </a:solidFill>
                <a:latin typeface="맑은 고딕"/>
              </a:rPr>
              <a:t>✓ 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사전/사후 변수 재분류 (투자자 관점)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거시지표 후보 4개 (UNRATE·ICSA·T10Y2Y·CPIAUCSL)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IRR 연율화 방식 (단순 ×12 관례)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부도 현금흐름 3단계 재구성 로직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860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B266"/>
                </a:solidFill>
                <a:latin typeface="맑은 고딕"/>
              </a:rPr>
              <a:t>◯ 미확정 (회의 논의)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7432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최종 모형 선택 (로지스틱 vs GBM) 및 확률보정 방법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거시지표 issue_d 매칭 방식 (level/YoY/이동평균)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부도 IRR: 건별 근사 vs grade×term 평균 대체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▸  프로젝트 역할 분담 및 회의 후 실행 계획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